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Today: how outside traffic safely enters an Istio mesh. Ask: how do you reach a pod from your laptop today? Most say NodePort or LoadBalancer - that sets up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levels, about two and a half hours in total. Each level ends with a checkpoint. The lab is built step by step so students can see what every object adds.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Ingress is traffic coming in, egress is traffic going out. Students who did the egress lecture will recognise the mirror image. Today is the left-hand arrow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naive approach: a LoadBalancer Service per app. Ask students to count the load balancers and certificates for 100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ingress gateway is one entrance. It reads the request (host, path) and sends it to the right service. Use the hotel reception analogy.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benefits. Emphasise central HTTPS and access control, which are the reasons most teams adopt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just an Envoy proxy in a pod, fronted by a Service of type LoadBalancer. istiod pushes configuration to it. No config, no behaviour - the same as the egress gateway.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Termination is the ingress case: the proxy ends the visitor TLS connection. Origination is egress. Passthrough means the proxy does not decrypt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objects give a working setup. Add a Secret for HTTPS. DestinationRule is optional and not needed in the first lab. Memory trick: G-V, listen then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slow down on. Ask students to predict the response at each stage before revealing it. The 404 is good news: it proves the gateway is listening.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target before typing anything. Point out the three hops and where each object acts. The Host header is used because httpbin.example.com is a made-up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run these now. Key points: the namespace label injects the sidecar (2/2 pods), and the port-forward must stay running in a second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the Gateway, then test. Students expect success but get 404. Explain: 404 from server istio-envoy means the gateway is listening but has no route. Contrast with the empty reply.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gateways field must match the Gateway name exactly. Only the listed paths are exposed. Walk through the four test cases in the table; the no-Host case surprises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200 alone is not proof. Three independent checks: the gateway log, the route table inside the gateway, and the identity header the app receives.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minutes, very effective. Failing deliberately teaches students what each symptom looks like. Restore after each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reference table for the debugging exercises. The flags NR, UH and UF appear in the gateway access log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five questions in order and stop at the first no. Then show the istioctl commands that answer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Secret must be in istio-system, the namespace of the gateway pod. Renewing the certificate means updating the Secret; no restart is needed. The VirtualService does not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matching DENY always wins. Blocking at the edge protects the app without changing the app. Other rules: methods, source IP blocks (need the real client IP), JWT.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MUTUAL means clients must present a certificate signed by the CA in the Secret ca.crt. Rejected during the handshake, before routing. Use it for partner APIs.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the lab: self-signed cert, single replica, demo profile. Every item here closes a gap that the lab deliberately leaves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eight rules. Ask each student to name one rule they would have broken without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two minutes, then discuss. Answers: 1) 404 with server istio-envoy proves the gateway is listening but no route matches; add the VirtualService. 2) Wrong destination port: use the Service port 8000, not 8080. 3) In istio-system, the namespace of the gateway pod. 4) Apply a DENY AuthorizationPolicy on the gateway with operation.paths, or simply do not list the path in the VirtualService.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students to the written tutorial for all commands and to the official docs for deeper topics such as the Gateway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554480"/>
            <a:ext cx="6766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Istio Ingress</a:t>
            </a:r>
            <a:endParaRPr lang="en-US" sz="5800" dirty="0"/>
          </a:p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5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7947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9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front door for your Kubernetes services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5720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to expert  |  Hands-on lecture  |  Istio 1.30.x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138160" y="1463040"/>
            <a:ext cx="3291840" cy="32918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423160"/>
            <a:ext cx="1371600" cy="1371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863840" y="5074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= traffic entering the mesh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learning path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Ingress Gateway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88720" y="1691640"/>
            <a:ext cx="731520" cy="73152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8872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5661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and pictures. No commands.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816352" y="146304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56432" y="1691640"/>
            <a:ext cx="731520" cy="73152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56432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2953512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lab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2953512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999232" y="35661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Namespace, sample app, tunnel to the gateway.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084064" y="146304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24144" y="1691640"/>
            <a:ext cx="731520" cy="731520"/>
          </a:xfrm>
          <a:prstGeom prst="ellipse">
            <a:avLst/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724144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5221224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5221224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266944" y="35661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+ VirtualService, then three proofs.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351776" y="146304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991856" y="1691640"/>
            <a:ext cx="731520" cy="73152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91856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3"/>
          <p:cNvSpPr txBox="1"/>
          <p:nvPr/>
        </p:nvSpPr>
        <p:spPr>
          <a:xfrm>
            <a:off x="7488936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7488936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534656" y="35661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istioctl and the famous 404.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9619488" y="146304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0259568" y="1691640"/>
            <a:ext cx="731520" cy="73152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259568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9756648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9756648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9802368" y="35661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blocking paths, client certificates.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21792" y="5349240"/>
            <a:ext cx="10917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for today: reach an app through the gateway, and prove it.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"ingress"?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Ingress Gateway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2651760"/>
            <a:ext cx="2194560" cy="1188720"/>
          </a:xfrm>
          <a:prstGeom prst="roundRect">
            <a:avLst>
              <a:gd name="adj" fmla="val 7692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2651760"/>
            <a:ext cx="2048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browsers,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0" y="1554480"/>
            <a:ext cx="4846320" cy="3566160"/>
          </a:xfrm>
          <a:prstGeom prst="roundRect">
            <a:avLst>
              <a:gd name="adj" fmla="val 3077"/>
            </a:avLst>
          </a:prstGeom>
          <a:solidFill>
            <a:srgbClr val="E8F0F9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84048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Kubernetes cluster / Istio mesh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023360" y="22860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096512" y="2286000"/>
            <a:ext cx="16824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00800" y="228600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8C7D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73952" y="2286000"/>
            <a:ext cx="15910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852160" y="3017520"/>
            <a:ext cx="548640" cy="0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9418320" y="2651760"/>
            <a:ext cx="2194560" cy="1188720"/>
          </a:xfrm>
          <a:prstGeom prst="roundRect">
            <a:avLst>
              <a:gd name="adj" fmla="val 7692"/>
            </a:avLst>
          </a:prstGeom>
          <a:solidFill>
            <a:srgbClr val="6C7A8C"/>
          </a:solidFill>
          <a:ln w="12700">
            <a:solidFill>
              <a:srgbClr val="6C7A8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491472" y="2651760"/>
            <a:ext cx="2048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(payment, SaaS)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743200" y="3246120"/>
            <a:ext cx="1280160" cy="0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548640" y="4206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INGRESS: entering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503920" y="3246120"/>
            <a:ext cx="914400" cy="0"/>
          </a:xfrm>
          <a:prstGeom prst="line">
            <a:avLst/>
          </a:prstGeom>
          <a:noFill/>
          <a:ln w="31750">
            <a:solidFill>
              <a:srgbClr val="6C7A8C"/>
            </a:solidFill>
            <a:prstDash val="dash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941832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EGRESS: leaving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have private addresses, so outsiders cannot reach them. Ingress is how we let the right traffic in.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how do outsiders reach a pod?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Ingress Gateway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2880360"/>
            <a:ext cx="1371600" cy="137160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880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926080" y="155448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6C7A8C"/>
          </a:solidFill>
          <a:ln w="12700">
            <a:solidFill>
              <a:srgbClr val="6C7A8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999232" y="1554480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303520" y="1554480"/>
            <a:ext cx="1463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B8C7D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76672" y="155448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 flipV="1">
            <a:off x="1920240" y="1984248"/>
            <a:ext cx="1005840" cy="1581912"/>
          </a:xfrm>
          <a:prstGeom prst="line">
            <a:avLst/>
          </a:prstGeom>
          <a:noFill/>
          <a:ln w="31750">
            <a:solidFill>
              <a:srgbClr val="6C7A8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663440" y="1984248"/>
            <a:ext cx="640080" cy="0"/>
          </a:xfrm>
          <a:prstGeom prst="line">
            <a:avLst/>
          </a:prstGeom>
          <a:noFill/>
          <a:ln w="31750">
            <a:solidFill>
              <a:srgbClr val="6C7A8C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926080" y="306324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6C7A8C"/>
          </a:solidFill>
          <a:ln w="12700">
            <a:solidFill>
              <a:srgbClr val="6C7A8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999232" y="3063240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Balancer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303520" y="3063240"/>
            <a:ext cx="1463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B8C7D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76672" y="306324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 flipV="1">
            <a:off x="1920240" y="3493008"/>
            <a:ext cx="1005840" cy="73152"/>
          </a:xfrm>
          <a:prstGeom prst="line">
            <a:avLst/>
          </a:prstGeom>
          <a:noFill/>
          <a:ln w="31750">
            <a:solidFill>
              <a:srgbClr val="6C7A8C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663440" y="3493008"/>
            <a:ext cx="640080" cy="0"/>
          </a:xfrm>
          <a:prstGeom prst="line">
            <a:avLst/>
          </a:prstGeom>
          <a:noFill/>
          <a:ln w="31750">
            <a:solidFill>
              <a:srgbClr val="6C7A8C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2926080" y="457200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6C7A8C"/>
          </a:solidFill>
          <a:ln w="12700">
            <a:solidFill>
              <a:srgbClr val="6C7A8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999232" y="4572000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Balancer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303520" y="4572000"/>
            <a:ext cx="1463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B8C7D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376672" y="457200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920240" y="3566160"/>
            <a:ext cx="1005840" cy="1435608"/>
          </a:xfrm>
          <a:prstGeom prst="line">
            <a:avLst/>
          </a:prstGeom>
          <a:noFill/>
          <a:ln w="31750">
            <a:solidFill>
              <a:srgbClr val="6C7A8C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4663440" y="5001768"/>
            <a:ext cx="640080" cy="0"/>
          </a:xfrm>
          <a:prstGeom prst="line">
            <a:avLst/>
          </a:prstGeom>
          <a:noFill/>
          <a:ln w="31750">
            <a:solidFill>
              <a:srgbClr val="6C7A8C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315200" y="1554480"/>
            <a:ext cx="4297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543800" y="1737360"/>
            <a:ext cx="640080" cy="640080"/>
          </a:xfrm>
          <a:prstGeom prst="ellipse">
            <a:avLst/>
          </a:prstGeom>
          <a:solidFill>
            <a:srgbClr val="D64545"/>
          </a:solidFill>
          <a:ln w="6350">
            <a:solidFill>
              <a:srgbClr val="D64545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7419" y="1890979"/>
            <a:ext cx="332842" cy="332842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8366760" y="1645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cloud load balancer per service: costly to run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7315200" y="2724912"/>
            <a:ext cx="4297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7543800" y="2907792"/>
            <a:ext cx="640080" cy="640080"/>
          </a:xfrm>
          <a:prstGeom prst="ellipse">
            <a:avLst/>
          </a:prstGeom>
          <a:solidFill>
            <a:srgbClr val="D64545"/>
          </a:solidFill>
          <a:ln w="6350">
            <a:solidFill>
              <a:srgbClr val="D64545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7419" y="3061411"/>
            <a:ext cx="332842" cy="33284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8366760" y="281635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certificates handled differently in every app</a:t>
            </a:r>
            <a:endParaRPr lang="en-US" sz="1500" dirty="0"/>
          </a:p>
        </p:txBody>
      </p:sp>
      <p:sp>
        <p:nvSpPr>
          <p:cNvPr id="33" name="Shape 28"/>
          <p:cNvSpPr/>
          <p:nvPr/>
        </p:nvSpPr>
        <p:spPr>
          <a:xfrm>
            <a:off x="7315200" y="3895344"/>
            <a:ext cx="4297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7543800" y="4078224"/>
            <a:ext cx="640080" cy="640080"/>
          </a:xfrm>
          <a:prstGeom prst="ellipse">
            <a:avLst/>
          </a:prstGeom>
          <a:solidFill>
            <a:srgbClr val="D64545"/>
          </a:solidFill>
          <a:ln w="6350">
            <a:solidFill>
              <a:srgbClr val="D64545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7419" y="4231843"/>
            <a:ext cx="332842" cy="332842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8366760" y="3986784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control over who gets in, or where</a:t>
            </a:r>
            <a:endParaRPr lang="en-US" sz="1500" dirty="0"/>
          </a:p>
        </p:txBody>
      </p:sp>
      <p:sp>
        <p:nvSpPr>
          <p:cNvPr id="37" name="Shape 31"/>
          <p:cNvSpPr/>
          <p:nvPr/>
        </p:nvSpPr>
        <p:spPr>
          <a:xfrm>
            <a:off x="7315200" y="5065776"/>
            <a:ext cx="4297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543800" y="5248656"/>
            <a:ext cx="640080" cy="640080"/>
          </a:xfrm>
          <a:prstGeom prst="ellipse">
            <a:avLst/>
          </a:prstGeom>
          <a:solidFill>
            <a:srgbClr val="D64545"/>
          </a:solidFill>
          <a:ln w="6350">
            <a:solidFill>
              <a:srgbClr val="D64545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7419" y="5402275"/>
            <a:ext cx="332842" cy="332842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8366760" y="5157216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place to see all incoming traffic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one front door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Ingress Gateway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2880360"/>
            <a:ext cx="1371600" cy="137160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880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743200" y="1554480"/>
            <a:ext cx="1737360" cy="3840480"/>
          </a:xfrm>
          <a:prstGeom prst="roundRect">
            <a:avLst>
              <a:gd name="adj" fmla="val 5263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816352" y="1554480"/>
            <a:ext cx="159105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entrance)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920240" y="3566160"/>
            <a:ext cx="822960" cy="0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 flipV="1">
            <a:off x="4480560" y="1984248"/>
            <a:ext cx="731520" cy="1581912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4526280" y="15361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12080" y="1554480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B8C7D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285232" y="155448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 flipV="1">
            <a:off x="4480560" y="3493008"/>
            <a:ext cx="731520" cy="73152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4526280" y="27249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/shop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212080" y="3063240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B8C7D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285232" y="306324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480560" y="3566160"/>
            <a:ext cx="731520" cy="1435608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4526280" y="5056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212080" y="4572000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B8C7D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85232" y="457200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315200" y="1554480"/>
            <a:ext cx="4297680" cy="3840480"/>
          </a:xfrm>
          <a:prstGeom prst="roundRect">
            <a:avLst>
              <a:gd name="adj" fmla="val 2857"/>
            </a:avLst>
          </a:prstGeom>
          <a:solidFill>
            <a:srgbClr val="E8F0F9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89520" y="1783080"/>
            <a:ext cx="822960" cy="82296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7030" y="1980590"/>
            <a:ext cx="427939" cy="427939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8595360" y="1920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Think: hotel reception</a:t>
            </a:r>
            <a:endParaRPr lang="en-US" sz="2000" dirty="0"/>
          </a:p>
        </p:txBody>
      </p:sp>
      <p:sp>
        <p:nvSpPr>
          <p:cNvPr id="26" name="Text 22"/>
          <p:cNvSpPr txBox="1"/>
          <p:nvPr/>
        </p:nvSpPr>
        <p:spPr>
          <a:xfrm>
            <a:off x="7589520" y="2834640"/>
            <a:ext cx="3794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do not wander into rooms. They arrive at reception, say where they want to go, and reception sends them there or turns them away.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= the reception desk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rules = the room list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gain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Ingress Gateway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0100" y="1760220"/>
            <a:ext cx="777240" cy="77724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638" y="1946758"/>
            <a:ext cx="404165" cy="40416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645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entrance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1783080" y="212140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public address for many services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306324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00100" y="3360420"/>
            <a:ext cx="777240" cy="77724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38" y="3546958"/>
            <a:ext cx="404165" cy="40416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83080" y="3246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HTTPS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783080" y="372160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holds the certificate; apps stay simple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466344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00100" y="4960620"/>
            <a:ext cx="777240" cy="77724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638" y="5147158"/>
            <a:ext cx="404165" cy="40416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783080" y="4846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routing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1783080" y="532180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by hostname and URL path; split traffic for canary releases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400800" y="146304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652260" y="1760220"/>
            <a:ext cx="777240" cy="77724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8798" y="1946758"/>
            <a:ext cx="404165" cy="40416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635240" y="1645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</a:t>
            </a:r>
            <a:endParaRPr lang="en-US" sz="2000" dirty="0"/>
          </a:p>
        </p:txBody>
      </p:sp>
      <p:sp>
        <p:nvSpPr>
          <p:cNvPr id="24" name="Text 17"/>
          <p:cNvSpPr txBox="1"/>
          <p:nvPr/>
        </p:nvSpPr>
        <p:spPr>
          <a:xfrm>
            <a:off x="7635240" y="21214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paths, allow only certain callers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6400800" y="306324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652260" y="3360420"/>
            <a:ext cx="777240" cy="77724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8798" y="3546958"/>
            <a:ext cx="404165" cy="40416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635240" y="3246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</a:t>
            </a:r>
            <a:endParaRPr lang="en-US" sz="2000" dirty="0"/>
          </a:p>
        </p:txBody>
      </p:sp>
      <p:sp>
        <p:nvSpPr>
          <p:cNvPr id="29" name="Text 21"/>
          <p:cNvSpPr txBox="1"/>
          <p:nvPr/>
        </p:nvSpPr>
        <p:spPr>
          <a:xfrm>
            <a:off x="7635240" y="37216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access logs and metrics of incoming traffic</a:t>
            </a:r>
            <a:endParaRPr lang="en-US" sz="1500" dirty="0"/>
          </a:p>
        </p:txBody>
      </p:sp>
      <p:sp>
        <p:nvSpPr>
          <p:cNvPr id="30" name="Shape 22"/>
          <p:cNvSpPr/>
          <p:nvPr/>
        </p:nvSpPr>
        <p:spPr>
          <a:xfrm>
            <a:off x="6400800" y="46634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6473952" y="4663440"/>
            <a:ext cx="5065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675120" y="47091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7200" dirty="0"/>
          </a:p>
        </p:txBody>
      </p:sp>
      <p:sp>
        <p:nvSpPr>
          <p:cNvPr id="33" name="Text 25"/>
          <p:cNvSpPr txBox="1"/>
          <p:nvPr/>
        </p:nvSpPr>
        <p:spPr>
          <a:xfrm>
            <a:off x="7955280" y="48463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for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is, technically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Ingress Gateway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27432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2743200"/>
            <a:ext cx="1499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2743200" y="274320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6C7A8C"/>
          </a:solidFill>
          <a:ln w="12700">
            <a:solidFill>
              <a:srgbClr val="6C7A8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816352" y="2743200"/>
            <a:ext cx="20482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istio-ingressgateway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LoadBalancer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0" y="274320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59552" y="274320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pod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 proxy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321040" y="233172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321040" y="23957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pod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503920" y="278892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77072" y="2788920"/>
            <a:ext cx="1271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012680" y="278892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85832" y="2788920"/>
            <a:ext cx="1271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2194560" y="3291840"/>
            <a:ext cx="548640" cy="0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937760" y="3291840"/>
            <a:ext cx="548640" cy="0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772400" y="3291840"/>
            <a:ext cx="731520" cy="0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9921240" y="3291840"/>
            <a:ext cx="91440" cy="0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0" y="1097280"/>
            <a:ext cx="3200400" cy="68580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102352" y="109728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istiod (control plane)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629400" y="1783080"/>
            <a:ext cx="0" cy="960120"/>
          </a:xfrm>
          <a:prstGeom prst="line">
            <a:avLst/>
          </a:prstGeom>
          <a:noFill/>
          <a:ln w="31750">
            <a:solidFill>
              <a:srgbClr val="9FC5E8"/>
            </a:solidFill>
            <a:prstDash val="dash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676656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Gateway + VirtualService config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470916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731520" y="4846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istio-system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31520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of the gateway pod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4325112" y="470916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4507992" y="4846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istio=ingressgateway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4507992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the Gateway object selects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101584" y="470916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8284464" y="4846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to 8080, 443 to 8443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284464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port to container port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TLS termination vs origination vs passthrough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Ingress Gateway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3E3"/>
          </a:solidFill>
          <a:ln w="9525">
            <a:solidFill>
              <a:srgbClr val="F28C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371600" y="1234440"/>
            <a:ext cx="1920240" cy="384048"/>
          </a:xfrm>
          <a:prstGeom prst="roundRect">
            <a:avLst>
              <a:gd name="adj" fmla="val 2381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444752" y="123444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828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Termination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removes TLS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77240" y="320040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0392" y="3200400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874520" y="320040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947672" y="3200400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971800" y="320040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044952" y="3200400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691640" y="3520440"/>
            <a:ext cx="182880" cy="0"/>
          </a:xfrm>
          <a:prstGeom prst="line">
            <a:avLst/>
          </a:prstGeom>
          <a:noFill/>
          <a:ln w="31750">
            <a:solidFill>
              <a:srgbClr val="1E2A3A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788920" y="3520440"/>
            <a:ext cx="182880" cy="0"/>
          </a:xfrm>
          <a:prstGeom prst="line">
            <a:avLst/>
          </a:prstGeom>
          <a:noFill/>
          <a:ln w="31750">
            <a:solidFill>
              <a:srgbClr val="1E2A3A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1508760" y="3931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2606040" y="3931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754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in: Ingress gateway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325112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553712" y="1828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Origination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4553712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adds TLS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4553712" y="320040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626864" y="3200400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650992" y="320040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6C7A8C"/>
          </a:solidFill>
          <a:ln w="12700">
            <a:solidFill>
              <a:srgbClr val="6C7A8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724144" y="3200400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748272" y="320040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21424" y="3200400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68112" y="3520440"/>
            <a:ext cx="182880" cy="0"/>
          </a:xfrm>
          <a:prstGeom prst="line">
            <a:avLst/>
          </a:prstGeom>
          <a:noFill/>
          <a:ln w="31750">
            <a:solidFill>
              <a:srgbClr val="1E2A3A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6565392" y="3520440"/>
            <a:ext cx="182880" cy="0"/>
          </a:xfrm>
          <a:prstGeom prst="line">
            <a:avLst/>
          </a:prstGeom>
          <a:noFill/>
          <a:ln w="31750">
            <a:solidFill>
              <a:srgbClr val="1E2A3A"/>
            </a:solidFill>
            <a:prstDash val="solid"/>
            <a:tailEnd type="triangle"/>
          </a:ln>
        </p:spPr>
      </p:sp>
      <p:sp>
        <p:nvSpPr>
          <p:cNvPr id="32" name="Text 29"/>
          <p:cNvSpPr txBox="1"/>
          <p:nvPr/>
        </p:nvSpPr>
        <p:spPr>
          <a:xfrm>
            <a:off x="5285232" y="3931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382512" y="3931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4553712" y="4754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in: Egress gateway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101584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8330184" y="1828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Passthrough</a:t>
            </a:r>
            <a:endParaRPr lang="en-US" sz="2600" dirty="0"/>
          </a:p>
        </p:txBody>
      </p:sp>
      <p:sp>
        <p:nvSpPr>
          <p:cNvPr id="37" name="Text 34"/>
          <p:cNvSpPr txBox="1"/>
          <p:nvPr/>
        </p:nvSpPr>
        <p:spPr>
          <a:xfrm>
            <a:off x="8330184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does not touch TLS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8330184" y="320040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403336" y="3200400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9427464" y="320040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6C7A8C"/>
          </a:solidFill>
          <a:ln w="12700">
            <a:solidFill>
              <a:srgbClr val="6C7A8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500616" y="3200400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10524744" y="320040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0597896" y="3200400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9244584" y="3520440"/>
            <a:ext cx="182880" cy="0"/>
          </a:xfrm>
          <a:prstGeom prst="line">
            <a:avLst/>
          </a:prstGeom>
          <a:noFill/>
          <a:ln w="31750">
            <a:solidFill>
              <a:srgbClr val="1E2A3A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10341864" y="3520440"/>
            <a:ext cx="182880" cy="0"/>
          </a:xfrm>
          <a:prstGeom prst="line">
            <a:avLst/>
          </a:prstGeom>
          <a:noFill/>
          <a:ln w="31750">
            <a:solidFill>
              <a:srgbClr val="1E2A3A"/>
            </a:solidFill>
            <a:prstDash val="solid"/>
            <a:tailEnd type="triangle"/>
          </a:ln>
        </p:spPr>
      </p:sp>
      <p:sp>
        <p:nvSpPr>
          <p:cNvPr id="46" name="Text 43"/>
          <p:cNvSpPr txBox="1"/>
          <p:nvPr/>
        </p:nvSpPr>
        <p:spPr>
          <a:xfrm>
            <a:off x="9061704" y="3931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10158984" y="3931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8330184" y="4754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in: Special cases</a:t>
            </a:r>
            <a:endParaRPr lang="en-US" sz="1600" dirty="0"/>
          </a:p>
        </p:txBody>
      </p:sp>
      <p:sp>
        <p:nvSpPr>
          <p:cNvPr id="49" name="Text 46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in one sentence: the gateway ends the visitor's encrypted connection, so the app does not deal with certificates.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Istio objects you will use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Ingress Gateway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394460" y="1828800"/>
            <a:ext cx="914400" cy="914400"/>
          </a:xfrm>
          <a:prstGeom prst="ellipse">
            <a:avLst/>
          </a:prstGeom>
          <a:solidFill>
            <a:srgbClr val="D9730B"/>
          </a:solidFill>
          <a:ln w="6350">
            <a:solidFill>
              <a:srgbClr val="D9730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" y="204825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520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402336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ports and hostnames does the front door accept?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3364992" y="146304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10812" y="1828800"/>
            <a:ext cx="914400" cy="914400"/>
          </a:xfrm>
          <a:prstGeom prst="ellipse">
            <a:avLst/>
          </a:prstGeom>
          <a:solidFill>
            <a:srgbClr val="D9730B"/>
          </a:solidFill>
          <a:ln w="6350">
            <a:solidFill>
              <a:srgbClr val="D9730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268" y="2048256"/>
            <a:ext cx="475488" cy="47548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02152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VirtualService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3502152" y="3520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593592" y="402336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each request go once it is inside?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181344" y="146304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027164" y="1828800"/>
            <a:ext cx="914400" cy="91440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620" y="2048256"/>
            <a:ext cx="475488" cy="47548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318504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</a:t>
            </a: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6318504" y="3520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09944" y="402336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certificate proves our identity for HTTPS? (Level 5)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8997696" y="146304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843516" y="1828800"/>
            <a:ext cx="914400" cy="91440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2972" y="2048256"/>
            <a:ext cx="475488" cy="47548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134856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DestinationRule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9134856" y="3520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(optional)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9226296" y="402336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the gateway talk to the app: versions, load balancing?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21792" y="5669280"/>
            <a:ext cx="10917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G-V: the Gateway LISTENS, the VirtualService ROUTES.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important idea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Ingress Gateway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configured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1874520" y="2377440"/>
            <a:ext cx="914400" cy="914400"/>
          </a:xfrm>
          <a:prstGeom prst="ellipse">
            <a:avLst/>
          </a:prstGeom>
          <a:solidFill>
            <a:srgbClr val="D64545"/>
          </a:solidFill>
          <a:ln w="6350">
            <a:solidFill>
              <a:srgbClr val="D6454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976" y="2596896"/>
            <a:ext cx="475488" cy="47548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3520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 reply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is listening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4114800" y="3200400"/>
            <a:ext cx="210312" cy="0"/>
          </a:xfrm>
          <a:prstGeom prst="line">
            <a:avLst/>
          </a:prstGeom>
          <a:noFill/>
          <a:ln w="3175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4325112" y="146304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4507992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only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5650992" y="2377440"/>
            <a:ext cx="914400" cy="914400"/>
          </a:xfrm>
          <a:prstGeom prst="ellipse">
            <a:avLst/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596896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507992" y="3520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5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 Not Found</a:t>
            </a:r>
            <a:endParaRPr lang="en-US" sz="3000" dirty="0"/>
          </a:p>
        </p:txBody>
      </p:sp>
      <p:sp>
        <p:nvSpPr>
          <p:cNvPr id="17" name="Text 12"/>
          <p:cNvSpPr txBox="1"/>
          <p:nvPr/>
        </p:nvSpPr>
        <p:spPr>
          <a:xfrm>
            <a:off x="4507992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open, no directions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891272" y="3200400"/>
            <a:ext cx="210312" cy="0"/>
          </a:xfrm>
          <a:prstGeom prst="line">
            <a:avLst/>
          </a:prstGeom>
          <a:noFill/>
          <a:ln w="3175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8101584" y="146304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8284464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+ VirtualService</a:t>
            </a:r>
            <a:endParaRPr lang="en-US" sz="2100" dirty="0"/>
          </a:p>
        </p:txBody>
      </p:sp>
      <p:sp>
        <p:nvSpPr>
          <p:cNvPr id="21" name="Shape 16"/>
          <p:cNvSpPr/>
          <p:nvPr/>
        </p:nvSpPr>
        <p:spPr>
          <a:xfrm>
            <a:off x="9427464" y="2377440"/>
            <a:ext cx="914400" cy="914400"/>
          </a:xfrm>
          <a:prstGeom prst="ellipse">
            <a:avLst/>
          </a:prstGeom>
          <a:solidFill>
            <a:srgbClr val="2A9D8F"/>
          </a:solidFill>
          <a:ln w="6350">
            <a:solidFill>
              <a:srgbClr val="2A9D8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96896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284464" y="3520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OK</a:t>
            </a:r>
            <a:endParaRPr lang="en-US" sz="3000" dirty="0"/>
          </a:p>
        </p:txBody>
      </p:sp>
      <p:sp>
        <p:nvSpPr>
          <p:cNvPr id="24" name="Text 18"/>
          <p:cNvSpPr txBox="1"/>
          <p:nvPr/>
        </p:nvSpPr>
        <p:spPr>
          <a:xfrm>
            <a:off x="8284464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reaches the app</a:t>
            </a:r>
            <a:endParaRPr lang="en-US" sz="1700" dirty="0"/>
          </a:p>
        </p:txBody>
      </p:sp>
      <p:sp>
        <p:nvSpPr>
          <p:cNvPr id="25" name="Shape 19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21792" y="5349240"/>
            <a:ext cx="10917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Gateway only opens the door. A VirtualService gives the directions. You need both.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build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Ingress Gateway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228600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228600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(curl)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566160" y="228600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39312" y="2286000"/>
            <a:ext cx="2048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766560" y="22860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39712" y="2286000"/>
            <a:ext cx="1682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httpbin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601200" y="228600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74352" y="228600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httpbin app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8080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2560320" y="2926080"/>
            <a:ext cx="1005840" cy="0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760720" y="2926080"/>
            <a:ext cx="1005840" cy="0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8595360" y="2926080"/>
            <a:ext cx="1005840" cy="0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834640" y="2286000"/>
            <a:ext cx="457200" cy="457200"/>
          </a:xfrm>
          <a:prstGeom prst="ellipse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834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035040" y="2286000"/>
            <a:ext cx="457200" cy="457200"/>
          </a:xfrm>
          <a:prstGeom prst="ellipse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0350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869680" y="2286000"/>
            <a:ext cx="457200" cy="457200"/>
          </a:xfrm>
          <a:prstGeom prst="ellipse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8696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2331720" y="3749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:80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header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0" y="3749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mTLS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(automatic)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321040" y="3749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HTTP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470916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731520" y="4846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object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731520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hop 1: port, host, TLS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4325112" y="470916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4507992" y="4846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VirtualService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4507992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hop 2: path and destination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101584" y="470916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8284464" y="4846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Sidecar</a:t>
            </a:r>
            <a:endParaRPr lang="en-US" sz="1900" dirty="0"/>
          </a:p>
        </p:txBody>
      </p:sp>
      <p:sp>
        <p:nvSpPr>
          <p:cNvPr id="33" name="Text 30"/>
          <p:cNvSpPr txBox="1"/>
          <p:nvPr/>
        </p:nvSpPr>
        <p:spPr>
          <a:xfrm>
            <a:off x="8284464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hop 3 to the app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2: prepare the lab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Ingress Gateway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71500" y="1531620"/>
            <a:ext cx="685800" cy="68580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696212"/>
            <a:ext cx="356616" cy="35661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4630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gateway pod and Service exist in istio-system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71500" y="2583180"/>
            <a:ext cx="685800" cy="68580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2747772"/>
            <a:ext cx="356616" cy="35661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463040" y="25146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namespace ingress-lab with istio-injection=enabled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571500" y="3634740"/>
            <a:ext cx="685800" cy="68580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3799332"/>
            <a:ext cx="356616" cy="35661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463040" y="35661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httpbin; expect READY 2/2 (app + sidecar)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571500" y="4686300"/>
            <a:ext cx="685800" cy="68580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4850892"/>
            <a:ext cx="356616" cy="356616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463040" y="46177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tunnel in a second terminal and leave it running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5852160" y="1463040"/>
            <a:ext cx="5760720" cy="3703320"/>
          </a:xfrm>
          <a:prstGeom prst="roundRect">
            <a:avLst>
              <a:gd name="adj" fmla="val 2469"/>
            </a:avLst>
          </a:prstGeom>
          <a:solidFill>
            <a:srgbClr val="0F1E36"/>
          </a:solidFill>
          <a:ln w="6350">
            <a:solidFill>
              <a:srgbClr val="0F1E36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6053328" y="1609344"/>
            <a:ext cx="5358384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 -n istio-system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namespace ingress-lab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label namespace ingress-lab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istio-injection=enabled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-n ingress-lab -f httpbin.yaml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 -n ingress-lab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second terminal, keep running: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port-forward -n istio-system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svc/istio-ingressgateway 8080:80 8443:443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621792" y="5394960"/>
            <a:ext cx="10917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test: curl to the gateway gives "Empty reply". No Gateway object yet, so nobody is listening.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Gateway (LISTEN)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Ingress Gateway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577840" cy="4297680"/>
          </a:xfrm>
          <a:prstGeom prst="roundRect">
            <a:avLst>
              <a:gd name="adj" fmla="val 2128"/>
            </a:avLst>
          </a:prstGeom>
          <a:solidFill>
            <a:srgbClr val="0F1E36"/>
          </a:solidFill>
          <a:ln w="6350">
            <a:solidFill>
              <a:srgbClr val="0F1E3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517904"/>
            <a:ext cx="5175504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networking.istio.io/v1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Gateway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httpbin-gateway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istio: ingressgateway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port: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number: 80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name: http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protocol: HTTP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hosts: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"httpbin.example.com"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92240" y="137160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675120" y="1463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the pod labelled istio=ingressgateway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92240" y="242316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675120" y="2514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80 / HTTP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2880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plain HTTP on port 80 (HTTPS comes later)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92240" y="347472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675120" y="3566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675120" y="3931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accept this website name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92240" y="461772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65392" y="4617720"/>
            <a:ext cx="4974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result: 404 Not Found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 is open, but there are no directions yet.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command: curl -H "Host: httpbin.example.com" http://127.0.0.1:8080/status/200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VirtualService (ROUTE)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Ingress Gateway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577840" cy="4297680"/>
          </a:xfrm>
          <a:prstGeom prst="roundRect">
            <a:avLst>
              <a:gd name="adj" fmla="val 2128"/>
            </a:avLst>
          </a:prstGeom>
          <a:solidFill>
            <a:srgbClr val="0F1E36"/>
          </a:solidFill>
          <a:ln w="6350">
            <a:solidFill>
              <a:srgbClr val="0F1E3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517904"/>
            <a:ext cx="5175504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networking.istio.io/v1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VirtualService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httpbin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"httpbin.example.com"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gateways: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httpbin-gateway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match: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uri: {prefix: /status}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uri: {prefix: /headers}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uri: {prefix: /delay}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route: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destination: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host: httpbin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port: {number: 8000}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371600"/>
          <a:ext cx="51206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/status/200, correct Host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/headers, correct Host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/get (path not listed)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Host header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492240" y="3931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492240" y="43434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gateways: must match the Gateway name exactly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the Service port (8000), not the container port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publish paths you intend to expose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prove it went through the gateway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Ingress Gateway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54380" y="1623060"/>
            <a:ext cx="685800" cy="68580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787652"/>
            <a:ext cx="356616" cy="3566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1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600200" y="2011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access log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731520" y="269748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0F1E36"/>
          </a:solidFill>
          <a:ln w="6350">
            <a:solidFill>
              <a:srgbClr val="0F1E3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32688" y="2843784"/>
            <a:ext cx="27980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logs -l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istio=ingressgateway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-c istio-proxy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-n istio-system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44348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outbound|8000||httpbin... For a wrong path: 404 NR route_not_found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325112" y="137160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30852" y="1623060"/>
            <a:ext cx="685800" cy="68580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444" y="178765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76672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2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5376672" y="2011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table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4507992" y="269748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0F1E36"/>
          </a:solidFill>
          <a:ln w="6350">
            <a:solidFill>
              <a:srgbClr val="0F1E3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709160" y="2843784"/>
            <a:ext cx="27980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istioctl proxy-config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routes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deploy/istio-ingressgateway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-n istio-system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4553712" y="44348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for httpbin.example.com pointing to VirtualService httpbin.ingress-lab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8101584" y="137160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307324" y="1623060"/>
            <a:ext cx="685800" cy="68580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916" y="1787652"/>
            <a:ext cx="356616" cy="35661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153144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3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9153144" y="2011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header</a:t>
            </a:r>
            <a:endParaRPr lang="en-US" sz="1900" dirty="0"/>
          </a:p>
        </p:txBody>
      </p:sp>
      <p:sp>
        <p:nvSpPr>
          <p:cNvPr id="26" name="Shape 20"/>
          <p:cNvSpPr/>
          <p:nvPr/>
        </p:nvSpPr>
        <p:spPr>
          <a:xfrm>
            <a:off x="8284464" y="269748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0F1E36"/>
          </a:solidFill>
          <a:ln w="6350">
            <a:solidFill>
              <a:srgbClr val="0F1E36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8485632" y="2843784"/>
            <a:ext cx="27980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-H "Host: ..."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http://127.0.0.1:8080/headers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grep -i client-cert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8330184" y="44348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X-Forwarded-Client-Cert names istio-ingressgateway-service-account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it on purpose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Ingress Gateway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4406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874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the VirtualService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560320"/>
            <a:ext cx="4892040" cy="1097280"/>
          </a:xfrm>
          <a:prstGeom prst="roundRect">
            <a:avLst>
              <a:gd name="adj" fmla="val 8333"/>
            </a:avLst>
          </a:prstGeom>
          <a:solidFill>
            <a:srgbClr val="0F1E36"/>
          </a:solidFill>
          <a:ln w="6350">
            <a:solidFill>
              <a:srgbClr val="0F1E3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24128" y="2706624"/>
            <a:ext cx="4489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delete virtualservice httpbin -n ingress-lab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840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404 again. The door is open, but the directions are gone.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72200" y="1371600"/>
            <a:ext cx="54406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4652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B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1874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 in the Gateway name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446520" y="2560320"/>
            <a:ext cx="4892040" cy="1097280"/>
          </a:xfrm>
          <a:prstGeom prst="roundRect">
            <a:avLst>
              <a:gd name="adj" fmla="val 8333"/>
            </a:avLst>
          </a:prstGeom>
          <a:solidFill>
            <a:srgbClr val="0F1E36"/>
          </a:solidFill>
          <a:ln w="6350">
            <a:solidFill>
              <a:srgbClr val="0F1E3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47688" y="2706624"/>
            <a:ext cx="4489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 's/httpbin-gateway/httpbin-gatewy/'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virtual-service.yaml | kubectl apply -f -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3840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404, and istioctl analyze reports the missing gateway.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" y="5257800"/>
            <a:ext cx="10917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at an ingress gateway almost every mistake looks like a 404. Next we learn to tell the causes apart.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4: read the symptom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Ingress Gateway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6675120"/>
                <a:gridCol w="14630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Visitor sees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means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flag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reply / reset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Nobody is listening: no Gateway server for that port, or tunnel not running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 (server: istio-envoy)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listens, but no route matches: wrong host, wrong path, or VirtualService not attached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matched, backend failed: no ready pods or wrong Service 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UH / UF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 RBAC: access denied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AuthorizationPolicy blocked the request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 = no route   |   UH = no healthy upstream   |   UF = upstream connection failed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by following the hops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Ingress Gateway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234440" y="1554480"/>
            <a:ext cx="640080" cy="64008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2344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331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request reach the gateway?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tunnel, LoadBalancer, DNS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560320" y="2697480"/>
            <a:ext cx="256032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816352" y="137160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02152" y="1554480"/>
            <a:ext cx="640080" cy="64008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02152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2953512" y="2331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listener on that port?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953512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server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28032" y="2697480"/>
            <a:ext cx="256032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084064" y="137160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9864" y="1554480"/>
            <a:ext cx="640080" cy="64008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769864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5221224" y="2331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host names match?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221224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header, Gateway, VirtualService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095744" y="2697480"/>
            <a:ext cx="256032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351776" y="137160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037576" y="1554480"/>
            <a:ext cx="640080" cy="64008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37576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7488936" y="2331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VirtualService attached, path matching?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488936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gateways: name, match.uri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363456" y="2697480"/>
            <a:ext cx="256032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619488" y="137160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0305288" y="1554480"/>
            <a:ext cx="640080" cy="64008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305288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9756648" y="2331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backend answer?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9756648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port, pods Ready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48640" y="4343400"/>
            <a:ext cx="11064240" cy="1783080"/>
          </a:xfrm>
          <a:prstGeom prst="roundRect">
            <a:avLst>
              <a:gd name="adj" fmla="val 5128"/>
            </a:avLst>
          </a:prstGeom>
          <a:solidFill>
            <a:srgbClr val="0F1E36"/>
          </a:solidFill>
          <a:ln w="6350">
            <a:solidFill>
              <a:srgbClr val="0F1E3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49808" y="4489704"/>
            <a:ext cx="1066190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istioctl analyze -n ingress-lab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istioctl proxy-status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istioctl proxy-config listeners deploy/istio-ingressgateway -n istio-system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istioctl proxy-config routes    deploy/istio-ingressgateway -n istio-system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istioctl proxy-config endpoints deploy/istio-ingressgateway -n istio-system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--cluster "outbound|8000||httpbin.ingress-lab.svc.cluster.local"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5: HTTPS with TLS termination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Ingress Gateway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210312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840480" y="210312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13632" y="210312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Gateway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ends here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863840" y="21031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36992" y="210312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httpbin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2286000" y="2560320"/>
            <a:ext cx="1554480" cy="0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217920" y="2560320"/>
            <a:ext cx="1645920" cy="0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228600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:443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mTLS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931920" y="123444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05072" y="123444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Secret: cert + key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0" y="1737360"/>
            <a:ext cx="0" cy="365760"/>
          </a:xfrm>
          <a:prstGeom prst="line">
            <a:avLst/>
          </a:prstGeom>
          <a:noFill/>
          <a:ln w="25400">
            <a:solidFill>
              <a:srgbClr val="9FC5E8"/>
            </a:solidFill>
            <a:prstDash val="dash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48640" y="3429000"/>
            <a:ext cx="356616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31520" y="3566160"/>
            <a:ext cx="502920" cy="502920"/>
          </a:xfrm>
          <a:prstGeom prst="ellipse">
            <a:avLst/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37160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certificate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31520" y="4206240"/>
            <a:ext cx="3200400" cy="1783080"/>
          </a:xfrm>
          <a:prstGeom prst="roundRect">
            <a:avLst>
              <a:gd name="adj" fmla="val 5128"/>
            </a:avLst>
          </a:prstGeom>
          <a:solidFill>
            <a:srgbClr val="0F1E36"/>
          </a:solidFill>
          <a:ln w="6350">
            <a:solidFill>
              <a:srgbClr val="0F1E3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32688" y="4352544"/>
            <a:ext cx="279806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openssl req -x509 -newkey rsa:2048 -nodes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-keyout httpbin.key -out httpbin.crt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-subj "/CN=httpbin.example.com"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325112" y="3429000"/>
            <a:ext cx="356616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07992" y="3566160"/>
            <a:ext cx="502920" cy="502920"/>
          </a:xfrm>
          <a:prstGeom prst="ellipse">
            <a:avLst/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07992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148072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it in istio-system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507992" y="4206240"/>
            <a:ext cx="3200400" cy="1783080"/>
          </a:xfrm>
          <a:prstGeom prst="roundRect">
            <a:avLst>
              <a:gd name="adj" fmla="val 5128"/>
            </a:avLst>
          </a:prstGeom>
          <a:solidFill>
            <a:srgbClr val="0F1E36"/>
          </a:solidFill>
          <a:ln w="6350">
            <a:solidFill>
              <a:srgbClr val="0F1E3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709160" y="4352544"/>
            <a:ext cx="279806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-n istio-system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secret tls httpbin-credential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--key=httpbin.key --cert=httpbin.crt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101584" y="3429000"/>
            <a:ext cx="356616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284464" y="3566160"/>
            <a:ext cx="502920" cy="502920"/>
          </a:xfrm>
          <a:prstGeom prst="ellipse">
            <a:avLst/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84464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8924544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HTTPS server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284464" y="4206240"/>
            <a:ext cx="3200400" cy="1783080"/>
          </a:xfrm>
          <a:prstGeom prst="roundRect">
            <a:avLst>
              <a:gd name="adj" fmla="val 5128"/>
            </a:avLst>
          </a:prstGeom>
          <a:solidFill>
            <a:srgbClr val="0F1E36"/>
          </a:solidFill>
          <a:ln w="6350">
            <a:solidFill>
              <a:srgbClr val="0F1E3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85632" y="4352544"/>
            <a:ext cx="279806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443, protocol HTTPS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tls.mode: SIMPLE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tls.credentialName: httpbin-credential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what may come in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Ingress Gateway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760720" cy="4297680"/>
          </a:xfrm>
          <a:prstGeom prst="roundRect">
            <a:avLst>
              <a:gd name="adj" fmla="val 2128"/>
            </a:avLst>
          </a:prstGeom>
          <a:solidFill>
            <a:srgbClr val="0F1E36"/>
          </a:solidFill>
          <a:ln w="6350">
            <a:solidFill>
              <a:srgbClr val="0F1E3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517904"/>
            <a:ext cx="5358384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security.istio.io/v1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AuthorizationPolicy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deny-delay-at-edge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namespace: istio-system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matchLabels: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istio: ingressgateway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action: DENY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operation: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paths: ["/delay*"]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766560" y="1463040"/>
            <a:ext cx="48463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8C7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39712" y="1463040"/>
            <a:ext cx="4700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calls the gateway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766560" y="2514600"/>
            <a:ext cx="4846320" cy="822960"/>
          </a:xfrm>
          <a:prstGeom prst="roundRect">
            <a:avLst>
              <a:gd name="adj" fmla="val 11111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39712" y="2514600"/>
            <a:ext cx="4700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Gateway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AuthorizationPolicy check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89720" y="2194560"/>
            <a:ext cx="0" cy="320040"/>
          </a:xfrm>
          <a:prstGeom prst="line">
            <a:avLst/>
          </a:prstGeom>
          <a:noFill/>
          <a:ln w="3175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766560" y="379476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39712" y="3794760"/>
            <a:ext cx="21396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/status/200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326880" y="379476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400032" y="3794760"/>
            <a:ext cx="21396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/delay/1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denied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909560" y="3337560"/>
            <a:ext cx="0" cy="457200"/>
          </a:xfrm>
          <a:prstGeom prst="line">
            <a:avLst/>
          </a:prstGeom>
          <a:noFill/>
          <a:ln w="3175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10469880" y="3337560"/>
            <a:ext cx="0" cy="457200"/>
          </a:xfrm>
          <a:prstGeom prst="line">
            <a:avLst/>
          </a:prstGeom>
          <a:noFill/>
          <a:ln w="3175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6766560" y="5029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order: CUSTOM, then DENY, then ALLOW. A matching DENY always wins.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certificates and TLS modes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Ingress Gateway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  <a:gridCol w="28346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tls.mode on a Gateway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SIMPLE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HTTPS: the gateway shows its certificate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websites and APIs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MUTUAL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sides show certificates; client certificate required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or internal APIs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PASSTHROUGH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does not decrypt; routes by SNI hostname; the app terminates TLS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 that must own their TLS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ISTIO_MUTUAL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Istio's own mTLS certificates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 gateways and sidecars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21792" y="5394960"/>
            <a:ext cx="10917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MUTUAL: put ca.crt in the same Secret, and set tls.mode: MUTUAL on the port 443 server.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checklist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Ingress Gateway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349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54380" y="1531620"/>
            <a:ext cx="502920" cy="502920"/>
          </a:xfrm>
          <a:prstGeom prst="ellipse">
            <a:avLst/>
          </a:prstGeom>
          <a:solidFill>
            <a:srgbClr val="2A9D8F"/>
          </a:solidFill>
          <a:ln w="6350">
            <a:solidFill>
              <a:srgbClr val="2A9D8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081" y="1652321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4173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DNS name pointing to the LoadBalancer address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313432"/>
            <a:ext cx="5349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54380" y="2473452"/>
            <a:ext cx="502920" cy="502920"/>
          </a:xfrm>
          <a:prstGeom prst="ellipse">
            <a:avLst/>
          </a:prstGeom>
          <a:solidFill>
            <a:srgbClr val="2A9D8F"/>
          </a:solidFill>
          <a:ln w="6350">
            <a:solidFill>
              <a:srgbClr val="2A9D8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81" y="2594153"/>
            <a:ext cx="261518" cy="26151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235915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from a real CA (cert-manager, Let's Encrypt)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48640" y="3255264"/>
            <a:ext cx="5349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54380" y="3415284"/>
            <a:ext cx="502920" cy="502920"/>
          </a:xfrm>
          <a:prstGeom prst="ellipse">
            <a:avLst/>
          </a:prstGeom>
          <a:solidFill>
            <a:srgbClr val="2A9D8F"/>
          </a:solidFill>
          <a:ln w="6350">
            <a:solidFill>
              <a:srgbClr val="2A9D8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81" y="3535985"/>
            <a:ext cx="261518" cy="26151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63040" y="3300984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HTTP to HTTPS; avoid hosts: "*"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548640" y="4197096"/>
            <a:ext cx="5349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54380" y="4357116"/>
            <a:ext cx="502920" cy="502920"/>
          </a:xfrm>
          <a:prstGeom prst="ellipse">
            <a:avLst/>
          </a:prstGeom>
          <a:solidFill>
            <a:srgbClr val="2A9D8F"/>
          </a:solidFill>
          <a:ln w="6350">
            <a:solidFill>
              <a:srgbClr val="2A9D8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081" y="4477817"/>
            <a:ext cx="261518" cy="26151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63040" y="424281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AuthorizationPolicy on the gateway; consider default deny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548640" y="5138928"/>
            <a:ext cx="5349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754380" y="5298948"/>
            <a:ext cx="502920" cy="502920"/>
          </a:xfrm>
          <a:prstGeom prst="ellipse">
            <a:avLst/>
          </a:prstGeom>
          <a:solidFill>
            <a:srgbClr val="2A9D8F"/>
          </a:solidFill>
          <a:ln w="6350">
            <a:solidFill>
              <a:srgbClr val="2A9D8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81" y="5419649"/>
            <a:ext cx="261518" cy="26151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463040" y="518464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gateway replicas with autoscaling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6263640" y="1371600"/>
            <a:ext cx="5349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469380" y="1531620"/>
            <a:ext cx="502920" cy="502920"/>
          </a:xfrm>
          <a:prstGeom prst="ellipse">
            <a:avLst/>
          </a:prstGeom>
          <a:solidFill>
            <a:srgbClr val="2A9D8F"/>
          </a:solidFill>
          <a:ln w="6350">
            <a:solidFill>
              <a:srgbClr val="2A9D8F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0081" y="1652321"/>
            <a:ext cx="261518" cy="26151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178040" y="14173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the demo profile; install gateways separately</a:t>
            </a:r>
            <a:endParaRPr lang="en-US" sz="1500" dirty="0"/>
          </a:p>
        </p:txBody>
      </p:sp>
      <p:sp>
        <p:nvSpPr>
          <p:cNvPr id="29" name="Shape 20"/>
          <p:cNvSpPr/>
          <p:nvPr/>
        </p:nvSpPr>
        <p:spPr>
          <a:xfrm>
            <a:off x="6263640" y="2313432"/>
            <a:ext cx="5349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6469380" y="2473452"/>
            <a:ext cx="502920" cy="502920"/>
          </a:xfrm>
          <a:prstGeom prst="ellipse">
            <a:avLst/>
          </a:prstGeom>
          <a:solidFill>
            <a:srgbClr val="2A9D8F"/>
          </a:solidFill>
          <a:ln w="6350">
            <a:solidFill>
              <a:srgbClr val="2A9D8F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0081" y="2594153"/>
            <a:ext cx="261518" cy="261518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178040" y="235915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the real client IP if you need IP rules</a:t>
            </a:r>
            <a:endParaRPr lang="en-US" sz="1500" dirty="0"/>
          </a:p>
        </p:txBody>
      </p:sp>
      <p:sp>
        <p:nvSpPr>
          <p:cNvPr id="33" name="Shape 23"/>
          <p:cNvSpPr/>
          <p:nvPr/>
        </p:nvSpPr>
        <p:spPr>
          <a:xfrm>
            <a:off x="6263640" y="3255264"/>
            <a:ext cx="5349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6469380" y="3415284"/>
            <a:ext cx="502920" cy="502920"/>
          </a:xfrm>
          <a:prstGeom prst="ellipse">
            <a:avLst/>
          </a:prstGeom>
          <a:solidFill>
            <a:srgbClr val="2A9D8F"/>
          </a:solidFill>
          <a:ln w="6350">
            <a:solidFill>
              <a:srgbClr val="2A9D8F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0081" y="3535985"/>
            <a:ext cx="261518" cy="261518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7178040" y="3300984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and rate limiting for public traffic</a:t>
            </a:r>
            <a:endParaRPr lang="en-US" sz="1500" dirty="0"/>
          </a:p>
        </p:txBody>
      </p:sp>
      <p:sp>
        <p:nvSpPr>
          <p:cNvPr id="37" name="Shape 26"/>
          <p:cNvSpPr/>
          <p:nvPr/>
        </p:nvSpPr>
        <p:spPr>
          <a:xfrm>
            <a:off x="6263640" y="4197096"/>
            <a:ext cx="5349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6469380" y="4357116"/>
            <a:ext cx="502920" cy="502920"/>
          </a:xfrm>
          <a:prstGeom prst="ellipse">
            <a:avLst/>
          </a:prstGeom>
          <a:solidFill>
            <a:srgbClr val="2A9D8F"/>
          </a:solidFill>
          <a:ln w="6350">
            <a:solidFill>
              <a:srgbClr val="2A9D8F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0081" y="4477817"/>
            <a:ext cx="261518" cy="261518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7178040" y="424281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expose Kiali, Grafana or Prometheus without authentication</a:t>
            </a:r>
            <a:endParaRPr lang="en-US" sz="1500" dirty="0"/>
          </a:p>
        </p:txBody>
      </p:sp>
      <p:sp>
        <p:nvSpPr>
          <p:cNvPr id="41" name="Shape 29"/>
          <p:cNvSpPr/>
          <p:nvPr/>
        </p:nvSpPr>
        <p:spPr>
          <a:xfrm>
            <a:off x="6263640" y="5138928"/>
            <a:ext cx="5349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Shape 30"/>
          <p:cNvSpPr/>
          <p:nvPr/>
        </p:nvSpPr>
        <p:spPr>
          <a:xfrm>
            <a:off x="6469380" y="5298948"/>
            <a:ext cx="502920" cy="502920"/>
          </a:xfrm>
          <a:prstGeom prst="ellipse">
            <a:avLst/>
          </a:prstGeom>
          <a:solidFill>
            <a:srgbClr val="2A9D8F"/>
          </a:solidFill>
          <a:ln w="6350">
            <a:solidFill>
              <a:srgbClr val="2A9D8F"/>
            </a:solidFill>
            <a:prstDash val="solid"/>
          </a:ln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0081" y="5419649"/>
            <a:ext cx="261518" cy="261518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7178040" y="518464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Gateway and VirtualService YAML in version control; run istioctl analyze in CI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 these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4173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Gateway alone gives 404. You need Gateway + VirtualService.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5603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gateways: must name the Gateway exactly.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31520" y="3794760"/>
            <a:ext cx="548640" cy="548640"/>
          </a:xfrm>
          <a:prstGeom prst="ellipse">
            <a:avLst/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37033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names must match in three places: request, Gateway, VirtualService.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31520" y="4937760"/>
            <a:ext cx="548640" cy="548640"/>
          </a:xfrm>
          <a:prstGeom prst="ellipse">
            <a:avLst/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48463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the Service port, not the container port.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309360" y="1508760"/>
            <a:ext cx="548640" cy="548640"/>
          </a:xfrm>
          <a:prstGeom prst="ellipse">
            <a:avLst/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093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7086600" y="14173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TLS Secret lives in the gateway pod's namespace.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309360" y="2651760"/>
            <a:ext cx="548640" cy="548640"/>
          </a:xfrm>
          <a:prstGeom prst="ellipse">
            <a:avLst/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093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7086600" y="25603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NR: no route.  503: backend.  Reset: no listener.  403: policy.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6309360" y="3794760"/>
            <a:ext cx="548640" cy="548640"/>
          </a:xfrm>
          <a:prstGeom prst="ellipse">
            <a:avLst/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0936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086600" y="37033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only the hosts and paths you intend to expose.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6309360" y="4937760"/>
            <a:ext cx="548640" cy="548640"/>
          </a:xfrm>
          <a:prstGeom prst="ellipse">
            <a:avLst/>
          </a:prstGeom>
          <a:solidFill>
            <a:srgbClr val="F28C28"/>
          </a:solidFill>
          <a:ln w="6350">
            <a:solidFill>
              <a:srgbClr val="F28C2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0936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7086600" y="48463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matching DENY policy always wins.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Ingress Gateway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160020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created only a Gateway and get 404. Why is that a good sign, and what is missing?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172200" y="137160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645920"/>
            <a:ext cx="640080" cy="64008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160020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VirtualService routes to port 8080 (the container port) and you get 503. What is wrong?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74904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4023360"/>
            <a:ext cx="640080" cy="64008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691640" y="397764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must the gateway's TLS Secret be created, and why?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172200" y="374904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46520" y="4023360"/>
            <a:ext cx="640080" cy="640080"/>
          </a:xfrm>
          <a:prstGeom prst="ellipse">
            <a:avLst/>
          </a:prstGeom>
          <a:solidFill>
            <a:srgbClr val="1B4F8A"/>
          </a:solidFill>
          <a:ln w="6350">
            <a:solidFill>
              <a:srgbClr val="1B4F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4652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0" y="397764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you block /admin from the internet without touching the app?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lecture: Istio Egress Gateway, the mirror image (traffic leaving the mesh).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9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31520" y="3108960"/>
            <a:ext cx="10698480" cy="2560320"/>
          </a:xfrm>
          <a:prstGeom prst="roundRect">
            <a:avLst>
              <a:gd name="adj" fmla="val 4286"/>
            </a:avLst>
          </a:prstGeom>
          <a:solidFill>
            <a:srgbClr val="12305A"/>
          </a:solidFill>
          <a:ln w="9525">
            <a:solidFill>
              <a:srgbClr val="2B4C7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005840" y="3291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learning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379476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docs: Ingress Gateways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istio.io/latest/docs/tasks/traffic-management/ingress/ingress-control/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docs: Secure Gateways (HTTPS and mutual TLS)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istio.io/latest/docs/tasks/traffic-management/ingress/secure-ingress/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API and traffic shifting: see Istio docs, Traffic Management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Istio Ingress Gateway - Lecture</dc:title>
  <dc:subject>PptxGenJS Presentation</dc:subject>
  <dc:creator>Istio Training</dc:creator>
  <cp:lastModifiedBy>Istio Training</cp:lastModifiedBy>
  <cp:revision>1</cp:revision>
  <dcterms:created xsi:type="dcterms:W3CDTF">2026-09-30T04:16:50Z</dcterms:created>
  <dcterms:modified xsi:type="dcterms:W3CDTF">2026-09-30T04:16:50Z</dcterms:modified>
</cp:coreProperties>
</file>